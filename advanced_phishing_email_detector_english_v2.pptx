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0" y="-457200"/>
            <a:ext cx="4389120" cy="2834640"/>
          </a:xfrm>
          <a:prstGeom prst="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4846320"/>
            <a:ext cx="3200400" cy="23774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566928"/>
            <a:ext cx="11064240" cy="5687568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6928"/>
            <a:ext cx="109728" cy="5687568"/>
          </a:xfrm>
          <a:prstGeom prst="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48672" y="896112"/>
            <a:ext cx="1188720" cy="1188720"/>
          </a:xfrm>
          <a:prstGeom prst="round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161288"/>
            <a:ext cx="96926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700" b="1" i="0">
                <a:solidFill>
                  <a:srgbClr val="F6F8FF"/>
                </a:solidFill>
                <a:latin typeface="Aptos Display"/>
              </a:rPr>
              <a:t>UCP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572768"/>
            <a:ext cx="106070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700" b="1" i="0">
                <a:solidFill>
                  <a:srgbClr val="F6F8FF"/>
                </a:solidFill>
                <a:latin typeface="Aptos"/>
              </a:rPr>
              <a:t>CYBERSECURITY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102412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3CDCFF"/>
                </a:solidFill>
                <a:latin typeface="Aptos"/>
              </a:rPr>
              <a:t>CAPSTONE PROJECT  /  SEPTEMBER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1481328"/>
            <a:ext cx="8046720" cy="2212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4400" b="1" i="0">
                <a:solidFill>
                  <a:srgbClr val="F6F8FF"/>
                </a:solidFill>
                <a:latin typeface="Aptos Display"/>
              </a:rPr>
              <a:t>Advanced
Phishing Email
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950208"/>
            <a:ext cx="7223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200" b="1" i="0">
                <a:solidFill>
                  <a:srgbClr val="B16CFF"/>
                </a:solidFill>
                <a:latin typeface="Aptos"/>
              </a:rPr>
              <a:t>With Real-Time Link Threat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4590288"/>
            <a:ext cx="70408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0" i="0">
                <a:solidFill>
                  <a:srgbClr val="A8B5D3"/>
                </a:solidFill>
                <a:latin typeface="Aptos"/>
              </a:rPr>
              <a:t>An explainable, offline security tool that classifies suspicious emails,
checks every link, and turns risk signals into clear actions.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504688"/>
            <a:ext cx="4297680" cy="420624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614416"/>
            <a:ext cx="3931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F6F8FF"/>
                </a:solidFill>
                <a:latin typeface="Aptos"/>
              </a:rPr>
              <a:t>FATIMA TARIQ  •  L1F24BSSC0019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5632704"/>
            <a:ext cx="3246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200" b="0" i="0">
                <a:solidFill>
                  <a:srgbClr val="A8B5D3"/>
                </a:solidFill>
                <a:latin typeface="Aptos"/>
              </a:rPr>
              <a:t>University of Central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-548640"/>
            <a:ext cx="4389120" cy="320040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029200"/>
            <a:ext cx="3474720" cy="219456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536E"/>
                </a:solidFill>
                <a:latin typeface="Aptos Display"/>
              </a:rPr>
              <a:t>02  /  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Why phishing detection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307592"/>
            <a:ext cx="80467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F6F8FF"/>
                </a:solidFill>
                <a:latin typeface="Aptos Display"/>
              </a:rPr>
              <a:t>A realistic-looking email can turn one click into a compromised account.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057400"/>
            <a:ext cx="2331720" cy="1024128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2185416"/>
            <a:ext cx="203911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F536E"/>
                </a:solidFill>
                <a:latin typeface="Aptos Display"/>
              </a:rP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2715768"/>
            <a:ext cx="20391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of data breaches involve phishing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18688" y="2057400"/>
            <a:ext cx="2331720" cy="1024128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2" y="2185416"/>
            <a:ext cx="203911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FBE4B"/>
                </a:solidFill>
                <a:latin typeface="Aptos Display"/>
              </a:rPr>
              <a:t>$4.7B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2715768"/>
            <a:ext cx="20391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reported losses in 2023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97296" y="2057400"/>
            <a:ext cx="2331720" cy="1024128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2185416"/>
            <a:ext cx="203911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3CDCFF"/>
                </a:solidFill>
                <a:latin typeface="Aptos Display"/>
              </a:rPr>
              <a:t>90%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715768"/>
            <a:ext cx="20391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of targeted attacks start with phishing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75904" y="2057400"/>
            <a:ext cx="2331720" cy="1024128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2185416"/>
            <a:ext cx="203911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B16CFF"/>
                </a:solidFill>
                <a:latin typeface="Aptos Display"/>
              </a:rPr>
              <a:t>1 in 4,000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2715768"/>
            <a:ext cx="20391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average user conversion 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675887"/>
            <a:ext cx="5257800" cy="2084831"/>
          </a:xfrm>
          <a:prstGeom prst="roundRect">
            <a:avLst/>
          </a:prstGeom>
          <a:solidFill>
            <a:srgbClr val="121D3E"/>
          </a:solidFill>
          <a:ln>
            <a:solidFill>
              <a:srgbClr val="5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913632"/>
            <a:ext cx="4480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F536E"/>
                </a:solidFill>
                <a:latin typeface="Aptos"/>
              </a:rPr>
              <a:t>WHAT USERS 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343400"/>
            <a:ext cx="4526280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536E"/>
                </a:solidFill>
              </a:rPr>
              <a:t>✓  Traditional filters create false positives</a:t>
            </a:r>
          </a:p>
          <a:p>
            <a:pPr>
              <a:spcAft>
                <a:spcPts val="600"/>
              </a:spcAft>
              <a:defRPr sz="14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536E"/>
                </a:solidFill>
              </a:rPr>
              <a:t>✓  Users cannot easily judge legitimacy</a:t>
            </a:r>
          </a:p>
          <a:p>
            <a:pPr>
              <a:spcAft>
                <a:spcPts val="600"/>
              </a:spcAft>
              <a:defRPr sz="14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536E"/>
                </a:solidFill>
              </a:rPr>
              <a:t>✓  Most tools do not explain the “why”</a:t>
            </a:r>
          </a:p>
          <a:p>
            <a:pPr>
              <a:spcAft>
                <a:spcPts val="600"/>
              </a:spcAft>
              <a:defRPr sz="14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536E"/>
                </a:solidFill>
              </a:rPr>
              <a:t>✓  Individual links often go unchecked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3675887"/>
            <a:ext cx="5257800" cy="2084831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3913632"/>
            <a:ext cx="4480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FBE4B"/>
                </a:solidFill>
                <a:latin typeface="Aptos"/>
              </a:rPr>
              <a:t>THE DESIGN GOAL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4425696"/>
            <a:ext cx="45262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300" b="1" i="0">
                <a:solidFill>
                  <a:srgbClr val="F6F8FF"/>
                </a:solidFill>
                <a:latin typeface="Aptos Display"/>
              </a:rPr>
              <a:t>Do more than label an email.
Show the evidence behind the decision.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5413248"/>
            <a:ext cx="1371600" cy="310896"/>
          </a:xfrm>
          <a:prstGeom prst="roundRect">
            <a:avLst/>
          </a:prstGeom>
          <a:solidFill>
            <a:srgbClr val="0D1531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01383" y="5477256"/>
            <a:ext cx="12618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3CDCFF"/>
                </a:solidFill>
                <a:latin typeface="Aptos"/>
              </a:rPr>
              <a:t>EXPLAINABLE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5413248"/>
            <a:ext cx="1371600" cy="310896"/>
          </a:xfrm>
          <a:prstGeom prst="roundRect">
            <a:avLst/>
          </a:prstGeom>
          <a:solidFill>
            <a:srgbClr val="0D1531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0144" y="5477256"/>
            <a:ext cx="12618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2EDD8B"/>
                </a:solidFill>
                <a:latin typeface="Aptos"/>
              </a:rPr>
              <a:t>LINK-AWARE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64040" y="5413248"/>
            <a:ext cx="1143000" cy="310896"/>
          </a:xfrm>
          <a:prstGeom prst="roundRect">
            <a:avLst/>
          </a:prstGeom>
          <a:solidFill>
            <a:srgbClr val="0D1531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18904" y="5477256"/>
            <a:ext cx="1033271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FFBE4B"/>
                </a:solidFill>
                <a:latin typeface="Aptos"/>
              </a:rPr>
              <a:t>OFFLINE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0" y="-457200"/>
            <a:ext cx="4389120" cy="2834640"/>
          </a:xfrm>
          <a:prstGeom prst="rect">
            <a:avLst/>
          </a:prstGeom>
          <a:solidFill>
            <a:srgbClr val="2EDD8B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4846320"/>
            <a:ext cx="3200400" cy="23774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2EDD8B"/>
                </a:solidFill>
                <a:latin typeface="Aptos Display"/>
              </a:rPr>
              <a:t>03  / 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Project objectives &amp;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F6F8FF"/>
                </a:solidFill>
                <a:latin typeface="Aptos Display"/>
              </a:rPr>
              <a:t>Three capabilities work together to produce a clear, actionable verdict.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1965960"/>
            <a:ext cx="3383280" cy="13716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1" y="2130552"/>
            <a:ext cx="384048" cy="384048"/>
          </a:xfrm>
          <a:prstGeom prst="round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2185415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 i="0">
                <a:solidFill>
                  <a:srgbClr val="080D21"/>
                </a:solidFill>
                <a:latin typeface="Aptos"/>
              </a:rPr>
              <a:t>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2130552"/>
            <a:ext cx="2560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1.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2496312"/>
            <a:ext cx="24963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Random Forest classifies the email as phishing or legitimate.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1965960"/>
            <a:ext cx="3383280" cy="13716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0" y="2130552"/>
            <a:ext cx="384048" cy="384048"/>
          </a:xfrm>
          <a:prstGeom prst="round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185415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 i="0">
                <a:solidFill>
                  <a:srgbClr val="080D21"/>
                </a:solidFill>
                <a:latin typeface="Aptos"/>
              </a:rPr>
              <a:t>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5776" y="2130552"/>
            <a:ext cx="2560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2. Link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5776" y="2496312"/>
            <a:ext cx="24963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Every URL is checked against eight threat signals.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1965960"/>
            <a:ext cx="3246120" cy="13716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39327" y="2130552"/>
            <a:ext cx="384048" cy="384048"/>
          </a:xfrm>
          <a:prstGeom prst="round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2185415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 i="0">
                <a:solidFill>
                  <a:srgbClr val="080D21"/>
                </a:solidFill>
                <a:latin typeface="Aptos"/>
              </a:rPr>
              <a:t>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3104" y="2130552"/>
            <a:ext cx="242315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3. User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2496312"/>
            <a:ext cx="2359151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The result includes a score, severity, and explanation.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822191"/>
            <a:ext cx="21945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3CDCFF"/>
                </a:solidFill>
                <a:latin typeface="Aptos"/>
              </a:rPr>
              <a:t>PROJECT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187952"/>
            <a:ext cx="1371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Accuracy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84831" y="4215384"/>
            <a:ext cx="2788920" cy="164592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084831" y="4215384"/>
            <a:ext cx="2514600" cy="164592"/>
          </a:xfrm>
          <a:prstGeom prst="roundRect">
            <a:avLst/>
          </a:prstGeom>
          <a:solidFill>
            <a:srgbClr val="2EDD8B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4178808"/>
            <a:ext cx="2103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2EDD8B"/>
                </a:solidFill>
                <a:latin typeface="Aptos"/>
              </a:rPr>
              <a:t>Achieved 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572000"/>
            <a:ext cx="1371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Response time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84831" y="4599432"/>
            <a:ext cx="2788920" cy="164592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084831" y="4599432"/>
            <a:ext cx="2514600" cy="164592"/>
          </a:xfrm>
          <a:prstGeom prst="round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4562856"/>
            <a:ext cx="2103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3CDCFF"/>
                </a:solidFill>
                <a:latin typeface="Aptos"/>
              </a:rPr>
              <a:t>Achieved 0.8 sec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4956048"/>
            <a:ext cx="1371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Threat coverage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84831" y="4983480"/>
            <a:ext cx="2788920" cy="164592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084831" y="4983480"/>
            <a:ext cx="2514600" cy="164592"/>
          </a:xfrm>
          <a:prstGeom prst="roundRect">
            <a:avLst/>
          </a:prstGeom>
          <a:solidFill>
            <a:srgbClr val="B16CFF"/>
          </a:solidFill>
          <a:ln>
            <a:solidFill>
              <a:srgbClr val="B1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4946904"/>
            <a:ext cx="2103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B16CFF"/>
                </a:solidFill>
                <a:latin typeface="Aptos"/>
              </a:rPr>
              <a:t>Achieved 8 categories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340096"/>
            <a:ext cx="1371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Deployment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84831" y="5367528"/>
            <a:ext cx="2788920" cy="164592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084831" y="5367528"/>
            <a:ext cx="2514600" cy="164592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20" y="5330952"/>
            <a:ext cx="2103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FFBE4B"/>
                </a:solidFill>
                <a:latin typeface="Aptos"/>
              </a:rPr>
              <a:t>No API dependency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3800" y="3822191"/>
            <a:ext cx="3840480" cy="178308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20" y="4069080"/>
            <a:ext cx="2926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2EDD8B"/>
                </a:solidFill>
                <a:latin typeface="Aptos"/>
              </a:rPr>
              <a:t>CORE FLOW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8120" y="4590288"/>
            <a:ext cx="841248" cy="530352"/>
          </a:xfrm>
          <a:prstGeom prst="roundRect">
            <a:avLst/>
          </a:prstGeom>
          <a:solidFill>
            <a:srgbClr val="0D1531"/>
          </a:solidFill>
          <a:ln>
            <a:solidFill>
              <a:srgbClr val="37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91272" y="4681728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4654296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1" i="0">
                <a:solidFill>
                  <a:srgbClr val="F6F8FF"/>
                </a:solidFill>
                <a:latin typeface="Aptos"/>
              </a:rPr>
              <a:t>Extract features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4718304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A8B5D3"/>
                </a:solidFill>
                <a:latin typeface="Aptos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97112" y="4590288"/>
            <a:ext cx="841248" cy="530352"/>
          </a:xfrm>
          <a:prstGeom prst="roundRect">
            <a:avLst/>
          </a:prstGeom>
          <a:solidFill>
            <a:srgbClr val="0D1531"/>
          </a:solidFill>
          <a:ln>
            <a:solidFill>
              <a:srgbClr val="37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70264" y="4681728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71432" y="4654296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1" i="0">
                <a:solidFill>
                  <a:srgbClr val="F6F8FF"/>
                </a:solidFill>
                <a:latin typeface="Aptos"/>
              </a:rPr>
              <a:t>Check links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11512" y="4718304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A8B5D3"/>
                </a:solidFill>
                <a:latin typeface="Aptos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76104" y="4590288"/>
            <a:ext cx="841248" cy="530352"/>
          </a:xfrm>
          <a:prstGeom prst="roundRect">
            <a:avLst/>
          </a:prstGeom>
          <a:solidFill>
            <a:srgbClr val="0D1531"/>
          </a:solidFill>
          <a:ln>
            <a:solidFill>
              <a:srgbClr val="37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49256" y="4681728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50424" y="4654296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1" i="0">
                <a:solidFill>
                  <a:srgbClr val="F6F8FF"/>
                </a:solidFill>
                <a:latin typeface="Aptos"/>
              </a:rPr>
              <a:t>Generate report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-548640"/>
            <a:ext cx="4389120" cy="320040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029200"/>
            <a:ext cx="3474720" cy="219456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3CDCFF"/>
                </a:solidFill>
                <a:latin typeface="Aptos Display"/>
              </a:rPr>
              <a:t>04  / 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Three tiers, one decision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8595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F6F8FF"/>
                </a:solidFill>
                <a:latin typeface="Aptos Display"/>
              </a:rPr>
              <a:t>A standard three-tier structure makes the prototype easy to inspect and extend.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1828800"/>
            <a:ext cx="6446520" cy="914400"/>
          </a:xfrm>
          <a:prstGeom prst="roundRect">
            <a:avLst/>
          </a:prstGeom>
          <a:solidFill>
            <a:srgbClr val="121D3E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1828800"/>
            <a:ext cx="164592" cy="91440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1993392"/>
            <a:ext cx="187451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3CDCFF"/>
                </a:solidFill>
                <a:latin typeface="Aptos"/>
              </a:rPr>
              <a:t>PRESENTATION 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1956816"/>
            <a:ext cx="1691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1" i="0">
                <a:solidFill>
                  <a:srgbClr val="F6F8FF"/>
                </a:solidFill>
                <a:latin typeface="Aptos"/>
              </a:rPr>
              <a:t>HTML5 / CSS3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2313432"/>
            <a:ext cx="3794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Email Analysis  •  Link Checker  •  Model Metrics  •  Information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054096"/>
            <a:ext cx="6446520" cy="914400"/>
          </a:xfrm>
          <a:prstGeom prst="roundRect">
            <a:avLst/>
          </a:prstGeom>
          <a:solidFill>
            <a:srgbClr val="121D3E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3054096"/>
            <a:ext cx="164592" cy="914400"/>
          </a:xfrm>
          <a:prstGeom prst="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3218688"/>
            <a:ext cx="187451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7E5BFF"/>
                </a:solidFill>
                <a:latin typeface="Aptos"/>
              </a:rPr>
              <a:t>APPLICATION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3182112"/>
            <a:ext cx="1691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1" i="0">
                <a:solidFill>
                  <a:srgbClr val="F6F8FF"/>
                </a:solidFill>
                <a:latin typeface="Aptos"/>
              </a:rPr>
              <a:t>Python + Flask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3538728"/>
            <a:ext cx="3794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Email analyzer  •  Random Forest  •  Link threat checker  •  API endpoints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4279392"/>
            <a:ext cx="6446520" cy="914400"/>
          </a:xfrm>
          <a:prstGeom prst="roundRect">
            <a:avLst/>
          </a:prstGeom>
          <a:solidFill>
            <a:srgbClr val="121D3E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4279392"/>
            <a:ext cx="164592" cy="914400"/>
          </a:xfrm>
          <a:prstGeom prst="rect">
            <a:avLst/>
          </a:prstGeom>
          <a:solidFill>
            <a:srgbClr val="2EDD8B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4443983"/>
            <a:ext cx="187451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2EDD8B"/>
                </a:solidFill>
                <a:latin typeface="Aptos"/>
              </a:rPr>
              <a:t>DATA TIER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407407"/>
            <a:ext cx="1691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1" i="0">
                <a:solidFill>
                  <a:srgbClr val="F6F8FF"/>
                </a:solidFill>
                <a:latin typeface="Aptos"/>
              </a:rPr>
              <a:t>Local project assets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764024"/>
            <a:ext cx="3794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phishing_model.pkl  •  threat database  •  test dataset  •  extracted features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99248" y="1828800"/>
            <a:ext cx="3767328" cy="3364992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2093976"/>
            <a:ext cx="3063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3CDCFF"/>
                </a:solidFill>
                <a:latin typeface="Aptos"/>
              </a:rPr>
              <a:t>REQUEST TO RESULT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1" y="2587752"/>
            <a:ext cx="393192" cy="283464"/>
          </a:xfrm>
          <a:prstGeom prst="roundRect">
            <a:avLst/>
          </a:prstGeom>
          <a:solidFill>
            <a:srgbClr val="19274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8431" y="2656332"/>
            <a:ext cx="39319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3CDCFF"/>
                </a:solidFill>
                <a:latin typeface="Aptos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3648" y="2638044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User input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0" y="2871216"/>
            <a:ext cx="0" cy="201168"/>
          </a:xfrm>
          <a:prstGeom prst="line">
            <a:avLst/>
          </a:prstGeom>
          <a:ln w="12700">
            <a:solidFill>
              <a:srgbClr val="3C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028431" y="3072384"/>
            <a:ext cx="393192" cy="283464"/>
          </a:xfrm>
          <a:prstGeom prst="roundRect">
            <a:avLst/>
          </a:prstGeom>
          <a:solidFill>
            <a:srgbClr val="19274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8431" y="3140964"/>
            <a:ext cx="39319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3CDCFF"/>
                </a:solidFill>
                <a:latin typeface="Aptos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13648" y="3122676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Extract features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29600" y="3355848"/>
            <a:ext cx="0" cy="201168"/>
          </a:xfrm>
          <a:prstGeom prst="line">
            <a:avLst/>
          </a:prstGeom>
          <a:ln w="12700">
            <a:solidFill>
              <a:srgbClr val="3C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028431" y="3557016"/>
            <a:ext cx="393192" cy="283464"/>
          </a:xfrm>
          <a:prstGeom prst="roundRect">
            <a:avLst/>
          </a:prstGeom>
          <a:solidFill>
            <a:srgbClr val="19274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28431" y="3625596"/>
            <a:ext cx="39319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3CDCFF"/>
                </a:solidFill>
                <a:latin typeface="Aptos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3648" y="3607308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Check links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29600" y="3840480"/>
            <a:ext cx="0" cy="201168"/>
          </a:xfrm>
          <a:prstGeom prst="line">
            <a:avLst/>
          </a:prstGeom>
          <a:ln w="12700">
            <a:solidFill>
              <a:srgbClr val="3C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028431" y="4041648"/>
            <a:ext cx="393192" cy="283464"/>
          </a:xfrm>
          <a:prstGeom prst="roundRect">
            <a:avLst/>
          </a:prstGeom>
          <a:solidFill>
            <a:srgbClr val="19274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28431" y="4110228"/>
            <a:ext cx="39319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3CDCFF"/>
                </a:solidFill>
                <a:latin typeface="Aptos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3648" y="4091939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Classify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229600" y="4325112"/>
            <a:ext cx="0" cy="201168"/>
          </a:xfrm>
          <a:prstGeom prst="line">
            <a:avLst/>
          </a:prstGeom>
          <a:ln w="12700">
            <a:solidFill>
              <a:srgbClr val="3C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028431" y="4526280"/>
            <a:ext cx="393192" cy="283464"/>
          </a:xfrm>
          <a:prstGeom prst="roundRect">
            <a:avLst/>
          </a:prstGeom>
          <a:solidFill>
            <a:srgbClr val="19274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28431" y="4594860"/>
            <a:ext cx="39319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3CDCFF"/>
                </a:solidFill>
                <a:latin typeface="Aptos"/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13648" y="4576572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Display explanation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4791456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2EDD8B"/>
                </a:solidFill>
                <a:latin typeface="Aptos"/>
              </a:rPr>
              <a:t>→  Final risk score + category + security guidance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0" y="-457200"/>
            <a:ext cx="4389120" cy="2834640"/>
          </a:xfrm>
          <a:prstGeom prst="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4846320"/>
            <a:ext cx="3200400" cy="23774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7E5BFF"/>
                </a:solidFill>
                <a:latin typeface="Aptos Display"/>
              </a:rPr>
              <a:t>05  / 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Random Forest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9144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300" b="1" i="0">
                <a:solidFill>
                  <a:srgbClr val="F6F8FF"/>
                </a:solidFill>
                <a:latin typeface="Aptos Display"/>
              </a:rPr>
              <a:t>Chosen for a small proof-of-concept dataset: fast, interpretable, and practical.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1920240"/>
            <a:ext cx="3154680" cy="3913632"/>
          </a:xfrm>
          <a:prstGeom prst="roundRect">
            <a:avLst/>
          </a:prstGeom>
          <a:solidFill>
            <a:srgbClr val="121D3E"/>
          </a:solidFill>
          <a:ln>
            <a:solidFill>
              <a:srgbClr val="3F3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2176272"/>
            <a:ext cx="2468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B16CFF"/>
                </a:solidFill>
                <a:latin typeface="Aptos"/>
              </a:rPr>
              <a:t>WHY RANDOM FOREST?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606040"/>
            <a:ext cx="2514600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B16CFF"/>
                </a:solidFill>
              </a:rPr>
              <a:t>✓  Works well on structured features</a:t>
            </a:r>
          </a:p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B16CFF"/>
                </a:solidFill>
              </a:rPr>
              <a:t>✓  Handles non-linear relationships</a:t>
            </a:r>
          </a:p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B16CFF"/>
                </a:solidFill>
              </a:rPr>
              <a:t>✓  Fast prediction without a GPU</a:t>
            </a:r>
          </a:p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B16CFF"/>
                </a:solidFill>
              </a:rPr>
              <a:t>✓  Provides feature importance</a:t>
            </a:r>
          </a:p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B16CFF"/>
                </a:solidFill>
              </a:rPr>
              <a:t>✓  Simpler to deploy than deep learning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" y="5230368"/>
            <a:ext cx="1508760" cy="310896"/>
          </a:xfrm>
          <a:prstGeom prst="roundRect">
            <a:avLst/>
          </a:prstGeom>
          <a:solidFill>
            <a:srgbClr val="121D3E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294376"/>
            <a:ext cx="1399031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7E5BFF"/>
                </a:solidFill>
                <a:latin typeface="Aptos"/>
              </a:rPr>
              <a:t>PRACTICAL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1938528"/>
            <a:ext cx="3108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3CDCFF"/>
                </a:solidFill>
                <a:latin typeface="Aptos"/>
              </a:rPr>
              <a:t>MODEL SPECIFICATIONS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87952" y="2331720"/>
            <a:ext cx="3977639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2423160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Algorithm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404872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200" b="1" i="0">
                <a:solidFill>
                  <a:srgbClr val="F6F8FF"/>
                </a:solidFill>
                <a:latin typeface="Aptos"/>
              </a:rPr>
              <a:t>Random Forest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87952" y="2807208"/>
            <a:ext cx="3977639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289864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Trees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880360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200" b="1" i="0">
                <a:solidFill>
                  <a:srgbClr val="F6F8FF"/>
                </a:solidFill>
                <a:latin typeface="Aptos"/>
              </a:rPr>
              <a:t>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87952" y="3282696"/>
            <a:ext cx="3977639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374136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Max depth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355848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200" b="1" i="0">
                <a:solidFill>
                  <a:srgbClr val="F6F8FF"/>
                </a:solidFill>
                <a:latin typeface="Aptos"/>
              </a:rPr>
              <a:t>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87952" y="3758183"/>
            <a:ext cx="3977639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2" y="3849623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Input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831335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200" b="1" i="0">
                <a:solidFill>
                  <a:srgbClr val="F6F8FF"/>
                </a:solidFill>
                <a:latin typeface="Aptos"/>
              </a:rP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87952" y="4233672"/>
            <a:ext cx="3977639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2" y="4325112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306824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200" b="1" i="0">
                <a:solidFill>
                  <a:srgbClr val="F6F8FF"/>
                </a:solidFill>
                <a:latin typeface="Aptos"/>
              </a:rPr>
              <a:t>Phishing / Legitimate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7952" y="4919472"/>
            <a:ext cx="1828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FBE4B"/>
                </a:solidFill>
                <a:latin typeface="Aptos"/>
              </a:rPr>
              <a:t>5 FEATURES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87952" y="5257800"/>
            <a:ext cx="3886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Sender spoofing  •  Urgency language  •  Links present
Suspicious links  •  Body length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58784" y="1920240"/>
            <a:ext cx="2880360" cy="3913632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33104" y="2176272"/>
            <a:ext cx="2194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2EDD8B"/>
                </a:solidFill>
                <a:latin typeface="Aptos"/>
              </a:rPr>
              <a:t>TEST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3104" y="2633472"/>
            <a:ext cx="1097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4432" y="2606040"/>
            <a:ext cx="758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800" b="1" i="0">
                <a:solidFill>
                  <a:srgbClr val="2EDD8B"/>
                </a:solidFill>
                <a:latin typeface="Aptos"/>
              </a:rP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33104" y="3136391"/>
            <a:ext cx="1097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Precision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14432" y="3108960"/>
            <a:ext cx="758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800" b="1" i="0">
                <a:solidFill>
                  <a:srgbClr val="2EDD8B"/>
                </a:solidFill>
                <a:latin typeface="Aptos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639312"/>
            <a:ext cx="1097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Recall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3611880"/>
            <a:ext cx="758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800" b="1" i="0">
                <a:solidFill>
                  <a:srgbClr val="2EDD8B"/>
                </a:solidFill>
                <a:latin typeface="Aptos"/>
              </a:rP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3104" y="4142232"/>
            <a:ext cx="1097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F1-score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14432" y="4114800"/>
            <a:ext cx="758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800" b="1" i="0">
                <a:solidFill>
                  <a:srgbClr val="3CDCFF"/>
                </a:solidFill>
                <a:latin typeface="Aptos"/>
              </a:rPr>
              <a:t>1.0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833104" y="4681728"/>
            <a:ext cx="2286000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833104" y="4919472"/>
            <a:ext cx="2103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6 / 6 test cases passed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33104" y="5340096"/>
            <a:ext cx="22128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FFBE4B"/>
                </a:solidFill>
                <a:latin typeface="Aptos"/>
              </a:rPr>
              <a:t>Important caveat:
small dataset = proof of concept, not production proof.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-548640"/>
            <a:ext cx="4389120" cy="320040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029200"/>
            <a:ext cx="3474720" cy="219456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536E"/>
                </a:solidFill>
                <a:latin typeface="Aptos Display"/>
              </a:rPr>
              <a:t>06  /  THREAT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Eight link threat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87782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F6F8FF"/>
                </a:solidFill>
                <a:latin typeface="Aptos Display"/>
              </a:rPr>
              <a:t>Each URL is checked independently before the overall email verdict is shown.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1901952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2048256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536E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020824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Known phishing domain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386584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Database match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2715768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2715768"/>
            <a:ext cx="1546250" cy="128016"/>
          </a:xfrm>
          <a:prstGeom prst="round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264261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FF536E"/>
                </a:solidFill>
                <a:latin typeface="Aptos"/>
              </a:rPr>
              <a:t>95%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02152" y="1901952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6744" y="2048256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536E"/>
                </a:solidFill>
                <a:latin typeface="Apto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2020824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Typosquatting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2386584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paypel.com / amaz0n.com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66744" y="2715768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66744" y="2715768"/>
            <a:ext cx="1432316" cy="128016"/>
          </a:xfrm>
          <a:prstGeom prst="round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264261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FF536E"/>
                </a:solidFill>
                <a:latin typeface="Aptos"/>
              </a:rPr>
              <a:t>88%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2512" y="1901952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3" y="2048256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BE4B"/>
                </a:solidFill>
                <a:latin typeface="Apto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020824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Shortened URL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3" y="2386584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bit.ly / tinyurl / ow.ly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47103" y="2715768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47103" y="2715768"/>
            <a:ext cx="1057960" cy="12801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264261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FFBE4B"/>
                </a:solidFill>
                <a:latin typeface="Aptos"/>
              </a:rPr>
              <a:t>65%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62872" y="1901952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27463" y="2048256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536E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799" y="2020824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Direct IP address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7463" y="2386584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192.168.1.1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27463" y="2715768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27463" y="2715768"/>
            <a:ext cx="1302105" cy="128016"/>
          </a:xfrm>
          <a:prstGeom prst="round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55680" y="264261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FF536E"/>
                </a:solidFill>
                <a:latin typeface="Aptos"/>
              </a:rPr>
              <a:t>80%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" y="3383280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3529584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BE4B"/>
                </a:solidFill>
                <a:latin typeface="Aptos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3502152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Suspicious TLD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" y="3867912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.tk / .ml / .ga / .cf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6384" y="4197096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86384" y="4197096"/>
            <a:ext cx="976579" cy="12801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14600" y="4123944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FFBE4B"/>
                </a:solidFill>
                <a:latin typeface="Aptos"/>
              </a:rPr>
              <a:t>60%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502152" y="3383280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66744" y="3529584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BE4B"/>
                </a:solidFill>
                <a:latin typeface="Aptos"/>
              </a:rPr>
              <a:t>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9080" y="3502152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Proxy service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66744" y="3867912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hides.my / anonymouse.org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66744" y="4197096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666744" y="4197096"/>
            <a:ext cx="1139342" cy="12801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0" y="4123944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FFBE4B"/>
                </a:solidFill>
                <a:latin typeface="Aptos"/>
              </a:rPr>
              <a:t>70%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82512" y="3383280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47103" y="3529584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B16CFF"/>
                </a:solidFill>
                <a:latin typeface="Aptos"/>
              </a:rPr>
              <a:t>07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3502152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Unicode domain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47103" y="3867912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xn-- / homograph attack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47103" y="4197096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547103" y="4197096"/>
            <a:ext cx="1220724" cy="128016"/>
          </a:xfrm>
          <a:prstGeom prst="roundRect">
            <a:avLst/>
          </a:prstGeom>
          <a:solidFill>
            <a:srgbClr val="B16CFF"/>
          </a:solidFill>
          <a:ln>
            <a:solidFill>
              <a:srgbClr val="B1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75319" y="4123944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B16CFF"/>
                </a:solidFill>
                <a:latin typeface="Aptos"/>
              </a:rPr>
              <a:t>75%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62872" y="3383280"/>
            <a:ext cx="260604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27463" y="3529584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BE4B"/>
                </a:solidFill>
                <a:latin typeface="Aptos"/>
              </a:rPr>
              <a:t>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799" y="3502152"/>
            <a:ext cx="1810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Subdomain spoofing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27463" y="3867912"/>
            <a:ext cx="2084831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verify-paypal.com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27463" y="4197096"/>
            <a:ext cx="1627632" cy="128016"/>
          </a:xfrm>
          <a:prstGeom prst="roundRect">
            <a:avLst/>
          </a:prstGeom>
          <a:solidFill>
            <a:srgbClr val="0D1531"/>
          </a:solidFill>
          <a:ln>
            <a:solidFill>
              <a:srgbClr val="0D1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427463" y="4197096"/>
            <a:ext cx="895197" cy="128016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55680" y="4123944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100" b="1" i="0">
                <a:solidFill>
                  <a:srgbClr val="FFBE4B"/>
                </a:solidFill>
                <a:latin typeface="Aptos"/>
              </a:rPr>
              <a:t>55%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8368" y="5074920"/>
            <a:ext cx="10927080" cy="749808"/>
          </a:xfrm>
          <a:prstGeom prst="roundRect">
            <a:avLst/>
          </a:prstGeom>
          <a:solidFill>
            <a:srgbClr val="0D1531"/>
          </a:solidFill>
          <a:ln>
            <a:solidFill>
              <a:srgbClr val="4C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5340096"/>
            <a:ext cx="10424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 i="0">
                <a:solidFill>
                  <a:srgbClr val="F6F8FF"/>
                </a:solidFill>
                <a:latin typeface="Aptos"/>
              </a:rPr>
              <a:t>EXTRACT  →  CHECK 8 FACTORS  →  CALCULATE RISK  →  RETURN CATEGORY + SEVERITY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0" y="-457200"/>
            <a:ext cx="4389120" cy="28346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4846320"/>
            <a:ext cx="3200400" cy="23774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3CDCFF"/>
                </a:solidFill>
                <a:latin typeface="Aptos Display"/>
              </a:rPr>
              <a:t>07  /  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Dashboard: from evidence to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9418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300" b="1" i="0">
                <a:solidFill>
                  <a:srgbClr val="F6F8FF"/>
                </a:solidFill>
                <a:latin typeface="Aptos Display"/>
              </a:rPr>
              <a:t>A non-technical user can paste an email, check a URL, and understand the result.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1874519"/>
            <a:ext cx="6537960" cy="3977639"/>
          </a:xfrm>
          <a:prstGeom prst="roundRect">
            <a:avLst/>
          </a:prstGeom>
          <a:solidFill>
            <a:srgbClr val="ECF1FC"/>
          </a:solidFill>
          <a:ln>
            <a:solidFill>
              <a:srgbClr val="3D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1874519"/>
            <a:ext cx="6537960" cy="384048"/>
          </a:xfrm>
          <a:prstGeom prst="roundRect">
            <a:avLst/>
          </a:prstGeom>
          <a:solidFill>
            <a:srgbClr val="D3DDF4"/>
          </a:solidFill>
          <a:ln>
            <a:solidFill>
              <a:srgbClr val="D3D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7824" y="1993392"/>
            <a:ext cx="91440" cy="91440"/>
          </a:xfrm>
          <a:prstGeom prst="round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0704" y="1993392"/>
            <a:ext cx="91440" cy="91440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43584" y="1993392"/>
            <a:ext cx="91440" cy="91440"/>
          </a:xfrm>
          <a:prstGeom prst="roundRect">
            <a:avLst/>
          </a:prstGeom>
          <a:solidFill>
            <a:srgbClr val="2EDD8B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1975104"/>
            <a:ext cx="27432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1" i="0">
                <a:solidFill>
                  <a:srgbClr val="495879"/>
                </a:solidFill>
                <a:latin typeface="Aptos"/>
              </a:rPr>
              <a:t>phishguard.local  /  email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2487168"/>
            <a:ext cx="1298448" cy="2999232"/>
          </a:xfrm>
          <a:prstGeom prst="roundRect">
            <a:avLst/>
          </a:prstGeom>
          <a:solidFill>
            <a:srgbClr val="DEE6F7"/>
          </a:solidFill>
          <a:ln>
            <a:solidFill>
              <a:srgbClr val="DE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2724912"/>
            <a:ext cx="914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5396B"/>
                </a:solidFill>
                <a:latin typeface="Aptos"/>
              </a:rPr>
              <a:t>PHISH
GUARD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" y="3493008"/>
            <a:ext cx="1005840" cy="265176"/>
          </a:xfrm>
          <a:prstGeom prst="roundRect">
            <a:avLst/>
          </a:prstGeom>
          <a:solidFill>
            <a:srgbClr val="BCCCED"/>
          </a:solidFill>
          <a:ln>
            <a:solidFill>
              <a:srgbClr val="BCC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3566160"/>
            <a:ext cx="877824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700" b="1" i="0">
                <a:solidFill>
                  <a:srgbClr val="25396B"/>
                </a:solidFill>
                <a:latin typeface="Aptos"/>
              </a:rPr>
              <a:t>Email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" y="3913632"/>
            <a:ext cx="1005840" cy="265176"/>
          </a:xfrm>
          <a:prstGeom prst="roundRect">
            <a:avLst/>
          </a:prstGeom>
          <a:solidFill>
            <a:srgbClr val="DEE6F7"/>
          </a:solidFill>
          <a:ln>
            <a:solidFill>
              <a:srgbClr val="DE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3986784"/>
            <a:ext cx="877824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700" b="1" i="0">
                <a:solidFill>
                  <a:srgbClr val="4F638B"/>
                </a:solidFill>
                <a:latin typeface="Aptos"/>
              </a:rPr>
              <a:t>Link checker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" y="4334256"/>
            <a:ext cx="1005840" cy="265176"/>
          </a:xfrm>
          <a:prstGeom prst="roundRect">
            <a:avLst/>
          </a:prstGeom>
          <a:solidFill>
            <a:srgbClr val="DEE6F7"/>
          </a:solidFill>
          <a:ln>
            <a:solidFill>
              <a:srgbClr val="DE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4712" y="4407408"/>
            <a:ext cx="877824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700" b="1" i="0">
                <a:solidFill>
                  <a:srgbClr val="4F638B"/>
                </a:solidFill>
                <a:latin typeface="Aptos"/>
              </a:rPr>
              <a:t>Model 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0704" y="4754880"/>
            <a:ext cx="1005840" cy="265176"/>
          </a:xfrm>
          <a:prstGeom prst="roundRect">
            <a:avLst/>
          </a:prstGeom>
          <a:solidFill>
            <a:srgbClr val="DEE6F7"/>
          </a:solidFill>
          <a:ln>
            <a:solidFill>
              <a:srgbClr val="DE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4828032"/>
            <a:ext cx="877824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700" b="1" i="0">
                <a:solidFill>
                  <a:srgbClr val="4F638B"/>
                </a:solidFill>
                <a:latin typeface="Aptos"/>
              </a:rPr>
              <a:t>Information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87168" y="2706624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172756"/>
                </a:solidFill>
                <a:latin typeface="Aptos"/>
              </a:rPr>
              <a:t>Email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3127248"/>
            <a:ext cx="10972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 i="0">
                <a:solidFill>
                  <a:srgbClr val="4F638B"/>
                </a:solidFill>
                <a:latin typeface="Aptos"/>
              </a:rPr>
              <a:t>Risk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3310128"/>
            <a:ext cx="1097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F536E"/>
                </a:solidFill>
                <a:latin typeface="Aptos"/>
              </a:rPr>
              <a:t>95%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3632" y="3136392"/>
            <a:ext cx="2651760" cy="685800"/>
          </a:xfrm>
          <a:prstGeom prst="roundRect">
            <a:avLst/>
          </a:prstGeom>
          <a:solidFill>
            <a:srgbClr val="FFE3E8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3364992"/>
            <a:ext cx="2240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F536E"/>
                </a:solidFill>
                <a:latin typeface="Aptos"/>
              </a:rPr>
              <a:t>PHISHING DETECTED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4023360"/>
            <a:ext cx="33832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414E6E"/>
                </a:solidFill>
                <a:latin typeface="Aptos"/>
              </a:rPr>
              <a:t>Sender spoofing  •  Urgent language
Suspicious link  •  Short body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87168" y="4754880"/>
            <a:ext cx="4096512" cy="402336"/>
          </a:xfrm>
          <a:prstGeom prst="roundRect">
            <a:avLst/>
          </a:prstGeom>
          <a:solidFill>
            <a:srgbClr val="DEE6F7"/>
          </a:solidFill>
          <a:ln>
            <a:solidFill>
              <a:srgbClr val="DE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0048" y="4882896"/>
            <a:ext cx="370332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 i="0">
                <a:solidFill>
                  <a:srgbClr val="25396B"/>
                </a:solidFill>
                <a:latin typeface="Aptos"/>
              </a:rPr>
              <a:t>Recommended action: do not click or reply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205740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3CDCFF"/>
                </a:solidFill>
                <a:latin typeface="Aptos"/>
              </a:rPr>
              <a:t>FOUR TABS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18120" y="2542032"/>
            <a:ext cx="3493008" cy="530352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73568" y="2670048"/>
            <a:ext cx="256032" cy="256032"/>
          </a:xfrm>
          <a:prstGeom prst="round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2651760"/>
            <a:ext cx="15087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Email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2852927"/>
            <a:ext cx="242316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Classify + explain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20" y="3255263"/>
            <a:ext cx="3493008" cy="530352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73568" y="3383279"/>
            <a:ext cx="256032" cy="256032"/>
          </a:xfrm>
          <a:prstGeom prst="round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3364991"/>
            <a:ext cx="15087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Link Checker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566159"/>
            <a:ext cx="242316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Verify any URL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18120" y="3968496"/>
            <a:ext cx="3493008" cy="530352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973568" y="4096511"/>
            <a:ext cx="256032" cy="256032"/>
          </a:xfrm>
          <a:prstGeom prst="roundRect">
            <a:avLst/>
          </a:prstGeom>
          <a:solidFill>
            <a:srgbClr val="2EDD8B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4078224"/>
            <a:ext cx="15087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Model Metrics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279392"/>
            <a:ext cx="242316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Show evidence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18120" y="4681727"/>
            <a:ext cx="3493008" cy="530352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973568" y="4809743"/>
            <a:ext cx="256032" cy="256032"/>
          </a:xfrm>
          <a:prstGeom prst="roundRect">
            <a:avLst/>
          </a:prstGeom>
          <a:solidFill>
            <a:srgbClr val="FFBE4B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4791455"/>
            <a:ext cx="15087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Information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4992623"/>
            <a:ext cx="242316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Teach the user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18120" y="5504688"/>
            <a:ext cx="1234440" cy="310896"/>
          </a:xfrm>
          <a:prstGeom prst="roundRect">
            <a:avLst/>
          </a:prstGeom>
          <a:solidFill>
            <a:srgbClr val="121D3E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72984" y="5568696"/>
            <a:ext cx="112471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2EDD8B"/>
                </a:solidFill>
                <a:latin typeface="Aptos"/>
              </a:rPr>
              <a:t>GREEN = SAFE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89720" y="5504688"/>
            <a:ext cx="1325880" cy="310896"/>
          </a:xfrm>
          <a:prstGeom prst="roundRect">
            <a:avLst/>
          </a:prstGeom>
          <a:solidFill>
            <a:srgbClr val="121D3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44584" y="5568696"/>
            <a:ext cx="12161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FF536E"/>
                </a:solidFill>
                <a:latin typeface="Aptos"/>
              </a:rPr>
              <a:t>RED = DANGER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-548640"/>
            <a:ext cx="4389120" cy="3200400"/>
          </a:xfrm>
          <a:prstGeom prst="rect">
            <a:avLst/>
          </a:prstGeom>
          <a:solidFill>
            <a:srgbClr val="2EDD8B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029200"/>
            <a:ext cx="3474720" cy="219456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2EDD8B"/>
                </a:solidFill>
                <a:latin typeface="Aptos Display"/>
              </a:rPr>
              <a:t>08  / 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Testing, results &amp; security posture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9509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200" b="1" i="0">
                <a:solidFill>
                  <a:srgbClr val="F6F8FF"/>
                </a:solidFill>
                <a:latin typeface="Aptos Display"/>
              </a:rPr>
              <a:t>The prototype met every stated target on its test cases, with limitations clearly documented.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1901952"/>
            <a:ext cx="6355080" cy="32004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157984"/>
            <a:ext cx="2286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3CDCFF"/>
                </a:solidFill>
                <a:latin typeface="Aptos"/>
              </a:rPr>
              <a:t>MODEL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468880"/>
            <a:ext cx="1828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3CDCFF"/>
                </a:solidFill>
                <a:latin typeface="Aptos"/>
              </a:rPr>
              <a:t>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468880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3CDCFF"/>
                </a:solidFill>
                <a:latin typeface="Aptos"/>
              </a:rPr>
              <a:t>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468880"/>
            <a:ext cx="128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3CDCFF"/>
                </a:solidFill>
                <a:latin typeface="Aptos"/>
              </a:rPr>
              <a:t>ACHIEVED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2706624"/>
            <a:ext cx="5852160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2816352"/>
            <a:ext cx="2377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816352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≥ 85%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2816352"/>
            <a:ext cx="1234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100%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3127248"/>
            <a:ext cx="5852160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3236976"/>
            <a:ext cx="2377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Precision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3236976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≥ 80%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236976"/>
            <a:ext cx="1234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100%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3547872"/>
            <a:ext cx="5852160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3657600"/>
            <a:ext cx="2377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Recall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365760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≥ 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657600"/>
            <a:ext cx="1234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100%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" y="3968496"/>
            <a:ext cx="5852160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4078224"/>
            <a:ext cx="2377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F1-score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60" y="4078224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N/A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4078224"/>
            <a:ext cx="1234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1.0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4400" y="4389120"/>
            <a:ext cx="5852160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4498848"/>
            <a:ext cx="2377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Response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498848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8B5D3"/>
                </a:solidFill>
                <a:latin typeface="Aptos"/>
              </a:rPr>
              <a:t>&lt; 2 sec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4498848"/>
            <a:ext cx="1234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0.8 sec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1975104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FBE4B"/>
                </a:solidFill>
                <a:latin typeface="Aptos"/>
              </a:rPr>
              <a:t>SECURITY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2432304"/>
            <a:ext cx="3794760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2523744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91856" y="2505456"/>
            <a:ext cx="157276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6F8FF"/>
                </a:solidFill>
                <a:latin typeface="Aptos"/>
              </a:rPr>
              <a:t>Input validation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505456"/>
            <a:ext cx="1325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0" i="0">
                <a:solidFill>
                  <a:srgbClr val="A8B5D3"/>
                </a:solidFill>
                <a:latin typeface="Aptos"/>
              </a:rPr>
              <a:t>PASSED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79" y="2944368"/>
            <a:ext cx="3794760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3035808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1856" y="3017520"/>
            <a:ext cx="157276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6F8FF"/>
                </a:solidFill>
                <a:latin typeface="Aptos"/>
              </a:rPr>
              <a:t>Malformed inputs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3017520"/>
            <a:ext cx="1325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0" i="0">
                <a:solidFill>
                  <a:srgbClr val="A8B5D3"/>
                </a:solidFill>
                <a:latin typeface="Aptos"/>
              </a:rPr>
              <a:t>Handled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3456432"/>
            <a:ext cx="3794760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0" y="3547872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91856" y="3529584"/>
            <a:ext cx="157276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6F8FF"/>
                </a:solidFill>
                <a:latin typeface="Aptos"/>
              </a:rPr>
              <a:t>100 requests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3529584"/>
            <a:ext cx="1325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0" i="0">
                <a:solidFill>
                  <a:srgbClr val="A8B5D3"/>
                </a:solidFill>
                <a:latin typeface="Aptos"/>
              </a:rPr>
              <a:t>80 seconds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98079" y="3968496"/>
            <a:ext cx="3794760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0" y="4059935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4041648"/>
            <a:ext cx="157276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6F8FF"/>
                </a:solidFill>
                <a:latin typeface="Aptos"/>
              </a:rPr>
              <a:t>Privacy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4041648"/>
            <a:ext cx="1325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0" i="0">
                <a:solidFill>
                  <a:srgbClr val="A8B5D3"/>
                </a:solidFill>
                <a:latin typeface="Aptos"/>
              </a:rPr>
              <a:t>No persistence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98079" y="4480560"/>
            <a:ext cx="3794760" cy="365760"/>
          </a:xfrm>
          <a:prstGeom prst="roundRect">
            <a:avLst/>
          </a:prstGeom>
          <a:solidFill>
            <a:srgbClr val="0D1531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0" y="4572000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EDD8B"/>
                </a:solidFill>
                <a:latin typeface="Aptos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91856" y="4553712"/>
            <a:ext cx="157276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6F8FF"/>
                </a:solidFill>
                <a:latin typeface="Aptos"/>
              </a:rPr>
              <a:t>STRIDE review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0" y="4553712"/>
            <a:ext cx="1325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0" i="0">
                <a:solidFill>
                  <a:srgbClr val="A8B5D3"/>
                </a:solidFill>
                <a:latin typeface="Aptos"/>
              </a:rPr>
              <a:t>No critical findings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79" y="5212080"/>
            <a:ext cx="3794760" cy="530352"/>
          </a:xfrm>
          <a:prstGeom prst="roundRect">
            <a:avLst/>
          </a:prstGeom>
          <a:solidFill>
            <a:srgbClr val="193F3D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08392" y="5394960"/>
            <a:ext cx="33649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1" i="0">
                <a:solidFill>
                  <a:srgbClr val="2EDD8B"/>
                </a:solidFill>
                <a:latin typeface="Aptos"/>
              </a:rPr>
              <a:t>NO CRITICAL VULNERABILITIES FOUND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0" y="-457200"/>
            <a:ext cx="4389120" cy="283464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4846320"/>
            <a:ext cx="3200400" cy="23774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F536E"/>
                </a:solidFill>
                <a:latin typeface="Aptos Display"/>
              </a:rPr>
              <a:t>09  /  DEMONSTRATION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Three-step live walkthrough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78638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F6F8FF"/>
                </a:solidFill>
                <a:latin typeface="Aptos Display"/>
              </a:rPr>
              <a:t>The demo connects the architecture to a real user experience.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029968"/>
            <a:ext cx="3273552" cy="2542032"/>
          </a:xfrm>
          <a:prstGeom prst="roundRect">
            <a:avLst/>
          </a:prstGeom>
          <a:solidFill>
            <a:srgbClr val="121D3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267712"/>
            <a:ext cx="402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F536E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22219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6F8FF"/>
                </a:solidFill>
                <a:latin typeface="Aptos"/>
              </a:rPr>
              <a:t>Paste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2907792"/>
            <a:ext cx="26060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500" b="1" i="0">
                <a:solidFill>
                  <a:srgbClr val="FF536E"/>
                </a:solidFill>
                <a:latin typeface="Aptos Display"/>
              </a:rPr>
              <a:t>95%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3703320"/>
            <a:ext cx="25603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8B5D3"/>
                </a:solidFill>
                <a:latin typeface="Aptos"/>
              </a:rPr>
              <a:t>Spoofed sender
Urgent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054096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A8B5D3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53128" y="2029968"/>
            <a:ext cx="3273552" cy="2542032"/>
          </a:xfrm>
          <a:prstGeom prst="roundRect">
            <a:avLst/>
          </a:prstGeom>
          <a:solidFill>
            <a:srgbClr val="121D3E"/>
          </a:solidFill>
          <a:ln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4296" y="2267712"/>
            <a:ext cx="402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FBE4B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22219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6F8FF"/>
                </a:solidFill>
                <a:latin typeface="Aptos"/>
              </a:rPr>
              <a:t>Check URL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4296" y="2907792"/>
            <a:ext cx="26060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500" b="1" i="0">
                <a:solidFill>
                  <a:srgbClr val="FFBE4B"/>
                </a:solidFill>
                <a:latin typeface="Aptos Display"/>
              </a:rPr>
              <a:t>88%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2584" y="3703320"/>
            <a:ext cx="25603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8B5D3"/>
                </a:solidFill>
                <a:latin typeface="Aptos"/>
              </a:rPr>
              <a:t>Typosquatting
High severity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054096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A8B5D3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7888" y="2029968"/>
            <a:ext cx="3273552" cy="2542032"/>
          </a:xfrm>
          <a:prstGeom prst="roundRect">
            <a:avLst/>
          </a:prstGeom>
          <a:solidFill>
            <a:srgbClr val="121D3E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2267712"/>
            <a:ext cx="402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2EDD8B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2219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6F8FF"/>
                </a:solidFill>
                <a:latin typeface="Aptos"/>
              </a:rPr>
              <a:t>Open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2907792"/>
            <a:ext cx="26060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500" b="1" i="0">
                <a:solidFill>
                  <a:srgbClr val="2EDD8B"/>
                </a:solidFill>
                <a:latin typeface="Aptos Display"/>
              </a:rPr>
              <a:t>100% test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3703320"/>
            <a:ext cx="25603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8B5D3"/>
                </a:solidFill>
                <a:latin typeface="Aptos"/>
              </a:rPr>
              <a:t>TP 3 • TN 3
FP 0 • FN 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074920"/>
            <a:ext cx="10927080" cy="685800"/>
          </a:xfrm>
          <a:prstGeom prst="roundRect">
            <a:avLst/>
          </a:prstGeom>
          <a:solidFill>
            <a:srgbClr val="0D1531"/>
          </a:solidFill>
          <a:ln>
            <a:solidFill>
              <a:srgbClr val="4C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321808"/>
            <a:ext cx="10424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 i="0">
                <a:solidFill>
                  <a:srgbClr val="F6F8FF"/>
                </a:solidFill>
                <a:latin typeface="Aptos"/>
              </a:rPr>
              <a:t>LOCALHOST:5000  →  PHISHING EMAIL  →  PAYPEL.COM  →  METRICS TAB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-548640"/>
            <a:ext cx="4389120" cy="3200400"/>
          </a:xfrm>
          <a:prstGeom prst="rect">
            <a:avLst/>
          </a:prstGeom>
          <a:solidFill>
            <a:srgbClr val="B16CFF"/>
          </a:solidFill>
          <a:ln>
            <a:solidFill>
              <a:srgbClr val="B1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029200"/>
            <a:ext cx="3474720" cy="219456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B16CFF"/>
                </a:solidFill>
                <a:latin typeface="Aptos Display"/>
              </a:rPr>
              <a:t>10  / 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Technical 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8046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F6F8FF"/>
                </a:solidFill>
                <a:latin typeface="Aptos Display"/>
              </a:rPr>
              <a:t>A complete working proof of concept, not just a research idea.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011680"/>
            <a:ext cx="342900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2176272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7E5BFF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2157984"/>
            <a:ext cx="24871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Complete working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2560320"/>
            <a:ext cx="24871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Frontend + Flask backend + trained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2011680"/>
            <a:ext cx="342900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2176272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3CDCFF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2157984"/>
            <a:ext cx="24871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Advanced ML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2560320"/>
            <a:ext cx="24871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100-tree Random Forest + persistence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2011680"/>
            <a:ext cx="342900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2176272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FF536E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2157984"/>
            <a:ext cx="24871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Real-time link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2560320"/>
            <a:ext cx="24871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8 categories + dynamic scoring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529584"/>
            <a:ext cx="342900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694176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2EDD8B"/>
                </a:solidFill>
                <a:latin typeface="Apto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6736" y="3675888"/>
            <a:ext cx="24871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User-centric interface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6736" y="4078224"/>
            <a:ext cx="24871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Four tabs + plain-language explanations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53128" y="3529584"/>
            <a:ext cx="342900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6008" y="3694176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FFBE4B"/>
                </a:solidFill>
                <a:latin typeface="Aptos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1496" y="3675888"/>
            <a:ext cx="24871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Security &amp;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4078224"/>
            <a:ext cx="24871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STRIDE review + 20+ test cases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47888" y="3529584"/>
            <a:ext cx="3429000" cy="1143000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3694176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B16CFF"/>
                </a:solidFill>
                <a:latin typeface="Apto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06256" y="3675888"/>
            <a:ext cx="24871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6F8FF"/>
                </a:solidFill>
                <a:latin typeface="Aptos"/>
              </a:rPr>
              <a:t>Documentation &amp;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6256" y="4078224"/>
            <a:ext cx="24871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0" i="0">
                <a:solidFill>
                  <a:srgbClr val="A8B5D3"/>
                </a:solidFill>
                <a:latin typeface="Aptos"/>
              </a:rPr>
              <a:t>IEEE report + guide + API specification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5504688"/>
            <a:ext cx="1207008" cy="310896"/>
          </a:xfrm>
          <a:prstGeom prst="roundRect">
            <a:avLst/>
          </a:prstGeom>
          <a:solidFill>
            <a:srgbClr val="121D3E"/>
          </a:solidFill>
          <a:ln>
            <a:solidFill>
              <a:srgbClr val="B1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568696"/>
            <a:ext cx="10972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B16CFF"/>
                </a:solidFill>
                <a:latin typeface="Aptos"/>
              </a:rPr>
              <a:t>350+ LINES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9968" y="5504688"/>
            <a:ext cx="1325880" cy="310896"/>
          </a:xfrm>
          <a:prstGeom prst="roundRect">
            <a:avLst/>
          </a:prstGeom>
          <a:solidFill>
            <a:srgbClr val="121D3E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84832" y="5568696"/>
            <a:ext cx="12161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3CDCFF"/>
                </a:solidFill>
                <a:latin typeface="Aptos"/>
              </a:rPr>
              <a:t>15+ COMMITS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20440" y="5504688"/>
            <a:ext cx="1508760" cy="310896"/>
          </a:xfrm>
          <a:prstGeom prst="roundRect">
            <a:avLst/>
          </a:prstGeom>
          <a:solidFill>
            <a:srgbClr val="121D3E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75304" y="5568696"/>
            <a:ext cx="1399031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1" i="0">
                <a:solidFill>
                  <a:srgbClr val="2EDD8B"/>
                </a:solidFill>
                <a:latin typeface="Aptos"/>
              </a:rPr>
              <a:t>25-PAGE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0" y="-457200"/>
            <a:ext cx="4389120" cy="28346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4846320"/>
            <a:ext cx="3200400" cy="2377440"/>
          </a:xfrm>
          <a:prstGeom prst="rect">
            <a:avLst/>
          </a:prstGeom>
          <a:solidFill>
            <a:srgbClr val="3CDCFF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3CDCFF"/>
                </a:solidFill>
                <a:latin typeface="Aptos Display"/>
              </a:rPr>
              <a:t>11  / 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Future improvements &amp; 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80160"/>
            <a:ext cx="9509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300" b="1" i="0">
                <a:solidFill>
                  <a:srgbClr val="F6F8FF"/>
                </a:solidFill>
                <a:latin typeface="Aptos Display"/>
              </a:rPr>
              <a:t>The foundation is strong. Production confidence comes from richer data and signals.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920240"/>
            <a:ext cx="2743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FBE4B"/>
                </a:solidFill>
                <a:latin typeface="Aptos"/>
              </a:rPr>
              <a:t>SHORT-TERM ENHANCEMENTS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267712"/>
            <a:ext cx="466344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BE4B"/>
                </a:solidFill>
              </a:rPr>
              <a:t>✓  Expand dataset from 20 to 1,000+ emails</a:t>
            </a:r>
          </a:p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BE4B"/>
                </a:solidFill>
              </a:rPr>
              <a:t>✓  Add DKIM / SPF / DMARC verification</a:t>
            </a:r>
          </a:p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BE4B"/>
                </a:solidFill>
              </a:rPr>
              <a:t>✓  Add attachment and malware analysis</a:t>
            </a:r>
          </a:p>
          <a:p>
            <a:pPr>
              <a:spcAft>
                <a:spcPts val="500"/>
              </a:spcAft>
              <a:defRPr sz="1300">
                <a:solidFill>
                  <a:srgbClr val="F6F8FF"/>
                </a:solidFill>
                <a:latin typeface="Aptos"/>
              </a:defRPr>
            </a:pPr>
            <a:r>
              <a:rPr b="1">
                <a:solidFill>
                  <a:srgbClr val="FFBE4B"/>
                </a:solidFill>
              </a:rPr>
              <a:t>✓  Use SHAP for deeper explanations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1920240"/>
            <a:ext cx="21945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3CDCFF"/>
                </a:solidFill>
                <a:latin typeface="Aptos"/>
              </a:rPr>
              <a:t>SCALABILITY PATH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2286000"/>
            <a:ext cx="2148840" cy="804672"/>
          </a:xfrm>
          <a:prstGeom prst="roundRect">
            <a:avLst/>
          </a:prstGeom>
          <a:solidFill>
            <a:srgbClr val="121D3E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404872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 i="0">
                <a:solidFill>
                  <a:srgbClr val="7E5BFF"/>
                </a:solidFill>
                <a:latin typeface="Aptos"/>
              </a:rPr>
              <a:t>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633472"/>
            <a:ext cx="1737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Local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2862072"/>
            <a:ext cx="17373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Single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59367" y="2286000"/>
            <a:ext cx="2148840" cy="804672"/>
          </a:xfrm>
          <a:prstGeom prst="roundRect">
            <a:avLst/>
          </a:prstGeom>
          <a:solidFill>
            <a:srgbClr val="121D3E"/>
          </a:solidFill>
          <a:ln>
            <a:solidFill>
              <a:srgbClr val="B1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2404872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 i="0">
                <a:solidFill>
                  <a:srgbClr val="B16CFF"/>
                </a:solidFill>
                <a:latin typeface="Aptos"/>
              </a:rPr>
              <a:t>PHASE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5672" y="2633472"/>
            <a:ext cx="1737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2862072"/>
            <a:ext cx="17373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Threat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3429000"/>
            <a:ext cx="2148840" cy="804672"/>
          </a:xfrm>
          <a:prstGeom prst="roundRect">
            <a:avLst/>
          </a:prstGeom>
          <a:solidFill>
            <a:srgbClr val="121D3E"/>
          </a:solidFill>
          <a:ln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547872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 i="0">
                <a:solidFill>
                  <a:srgbClr val="3CDCFF"/>
                </a:solidFill>
                <a:latin typeface="Aptos"/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3776472"/>
            <a:ext cx="1737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REST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4005072"/>
            <a:ext cx="17373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Service layer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59367" y="3429000"/>
            <a:ext cx="2148840" cy="804672"/>
          </a:xfrm>
          <a:prstGeom prst="roundRect">
            <a:avLst/>
          </a:prstGeom>
          <a:solidFill>
            <a:srgbClr val="121D3E"/>
          </a:solidFill>
          <a:ln>
            <a:solidFill>
              <a:srgbClr val="2E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3547872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 i="0">
                <a:solidFill>
                  <a:srgbClr val="2EDD8B"/>
                </a:solidFill>
                <a:latin typeface="Aptos"/>
              </a:rPr>
              <a:t>PHASE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3776472"/>
            <a:ext cx="1737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F6F8FF"/>
                </a:solidFill>
                <a:latin typeface="Aptos"/>
              </a:rP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05672" y="4005072"/>
            <a:ext cx="17373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8B5D3"/>
                </a:solidFill>
                <a:latin typeface="Aptos"/>
              </a:rPr>
              <a:t>Scale + monitor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" y="4773168"/>
            <a:ext cx="10744200" cy="987552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5010912"/>
            <a:ext cx="1417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2EDD8B"/>
                </a:solidFill>
                <a:latin typeface="Aptos"/>
              </a:rPr>
              <a:t>LONG-TERM VISION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87168" y="4956048"/>
            <a:ext cx="1444752" cy="438912"/>
          </a:xfrm>
          <a:prstGeom prst="roundRect">
            <a:avLst/>
          </a:prstGeom>
          <a:solidFill>
            <a:srgbClr val="0D1531"/>
          </a:solidFill>
          <a:ln>
            <a:solidFill>
              <a:srgbClr val="384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51176" y="5084064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800" b="1" i="0">
                <a:solidFill>
                  <a:srgbClr val="F6F8FF"/>
                </a:solidFill>
                <a:latin typeface="Aptos"/>
              </a:rPr>
              <a:t>Gmail / Outlook plugins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97096" y="4956048"/>
            <a:ext cx="1444752" cy="438912"/>
          </a:xfrm>
          <a:prstGeom prst="roundRect">
            <a:avLst/>
          </a:prstGeom>
          <a:solidFill>
            <a:srgbClr val="0D1531"/>
          </a:solidFill>
          <a:ln>
            <a:solidFill>
              <a:srgbClr val="384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1104" y="5084064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800" b="1" i="0">
                <a:solidFill>
                  <a:srgbClr val="F6F8FF"/>
                </a:solidFill>
                <a:latin typeface="Aptos"/>
              </a:rPr>
              <a:t>Cloud API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07024" y="4956048"/>
            <a:ext cx="1444752" cy="438912"/>
          </a:xfrm>
          <a:prstGeom prst="roundRect">
            <a:avLst/>
          </a:prstGeom>
          <a:solidFill>
            <a:srgbClr val="0D1531"/>
          </a:solidFill>
          <a:ln>
            <a:solidFill>
              <a:srgbClr val="384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5084064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800" b="1" i="0">
                <a:solidFill>
                  <a:srgbClr val="F6F8FF"/>
                </a:solidFill>
                <a:latin typeface="Aptos"/>
              </a:rPr>
              <a:t>Continuous retraining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16952" y="4956048"/>
            <a:ext cx="1444752" cy="438912"/>
          </a:xfrm>
          <a:prstGeom prst="roundRect">
            <a:avLst/>
          </a:prstGeom>
          <a:solidFill>
            <a:srgbClr val="0D1531"/>
          </a:solidFill>
          <a:ln>
            <a:solidFill>
              <a:srgbClr val="384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5084064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800" b="1" i="0">
                <a:solidFill>
                  <a:srgbClr val="F6F8FF"/>
                </a:solidFill>
                <a:latin typeface="Aptos"/>
              </a:rPr>
              <a:t>Image-based detection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4956048"/>
            <a:ext cx="1444752" cy="438912"/>
          </a:xfrm>
          <a:prstGeom prst="roundRect">
            <a:avLst/>
          </a:prstGeom>
          <a:solidFill>
            <a:srgbClr val="0D1531"/>
          </a:solidFill>
          <a:ln>
            <a:solidFill>
              <a:srgbClr val="384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0888" y="5084064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800" b="1" i="0">
                <a:solidFill>
                  <a:srgbClr val="F6F8FF"/>
                </a:solidFill>
                <a:latin typeface="Aptos"/>
              </a:rPr>
              <a:t>Multilingual NLP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-548640"/>
            <a:ext cx="4389120" cy="3200400"/>
          </a:xfrm>
          <a:prstGeom prst="rect">
            <a:avLst/>
          </a:prstGeom>
          <a:solidFill>
            <a:srgbClr val="7E5BFF"/>
          </a:solidFill>
          <a:ln>
            <a:solidFill>
              <a:srgbClr val="7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029200"/>
            <a:ext cx="3474720" cy="2194560"/>
          </a:xfrm>
          <a:prstGeom prst="rect">
            <a:avLst/>
          </a:prstGeom>
          <a:solidFill>
            <a:srgbClr val="FF536E"/>
          </a:solidFill>
          <a:ln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486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256032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56616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7784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583680"/>
            <a:ext cx="12191999" cy="0"/>
          </a:xfrm>
          <a:prstGeom prst="line">
            <a:avLst/>
          </a:prstGeom>
          <a:ln w="12700">
            <a:solidFill>
              <a:srgbClr val="2B3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7E5BFF"/>
                </a:solidFill>
                <a:latin typeface="Aptos Display"/>
              </a:rPr>
              <a:t>12  /  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264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 i="0">
                <a:solidFill>
                  <a:srgbClr val="F6F8FF"/>
                </a:solidFill>
                <a:latin typeface="Aptos Display"/>
              </a:rPr>
              <a:t>A practical security layer with a clear next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1" i="0">
                <a:solidFill>
                  <a:srgbClr val="A8B5D3"/>
                </a:solidFill>
                <a:latin typeface="Aptos"/>
              </a:rPr>
              <a:t>ADVANCED PHISHING EMAIL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1417320"/>
            <a:ext cx="102412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800" b="1" i="0">
                <a:solidFill>
                  <a:srgbClr val="F6F8FF"/>
                </a:solidFill>
                <a:latin typeface="Aptos Display"/>
              </a:rPr>
              <a:t>Effective phishing detection does not require complex deep learning.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148840"/>
            <a:ext cx="9601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0" i="0">
                <a:solidFill>
                  <a:srgbClr val="A8B5D3"/>
                </a:solidFill>
                <a:latin typeface="Aptos"/>
              </a:rPr>
              <a:t>Well-engineered features + independent link checks + clear explanations
can create a useful, lightweight first line of defense.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3246120"/>
            <a:ext cx="9738360" cy="1298448"/>
          </a:xfrm>
          <a:prstGeom prst="roundRect">
            <a:avLst/>
          </a:prstGeom>
          <a:solidFill>
            <a:srgbClr val="121D3E"/>
          </a:solidFill>
          <a:ln>
            <a:solidFill>
              <a:srgbClr val="2B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49300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500" b="1" i="0">
                <a:solidFill>
                  <a:srgbClr val="2EDD8B"/>
                </a:solidFill>
                <a:latin typeface="Aptos Display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931920"/>
            <a:ext cx="1737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8B5D3"/>
                </a:solidFill>
                <a:latin typeface="Aptos"/>
              </a:rPr>
              <a:t>on 6 test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79" y="349300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500" b="1" i="0">
                <a:solidFill>
                  <a:srgbClr val="3CDCFF"/>
                </a:solidFill>
                <a:latin typeface="Aptos Display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79" y="3931920"/>
            <a:ext cx="1737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8B5D3"/>
                </a:solidFill>
                <a:latin typeface="Aptos"/>
              </a:rPr>
              <a:t>link threat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49300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500" b="1" i="0">
                <a:solidFill>
                  <a:srgbClr val="B16CFF"/>
                </a:solidFill>
                <a:latin typeface="Aptos Display"/>
              </a:rPr>
              <a:t>0.8s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931920"/>
            <a:ext cx="1737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8B5D3"/>
                </a:solidFill>
                <a:latin typeface="Aptos"/>
              </a:rPr>
              <a:t>average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349300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500" b="1" i="0">
                <a:solidFill>
                  <a:srgbClr val="FFBE4B"/>
                </a:solidFill>
                <a:latin typeface="Aptos Display"/>
              </a:rPr>
              <a:t>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3931920"/>
            <a:ext cx="1737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8B5D3"/>
                </a:solidFill>
                <a:latin typeface="Aptos"/>
              </a:rPr>
              <a:t>privacy-first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74920"/>
            <a:ext cx="10698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500" b="1" i="0">
                <a:solidFill>
                  <a:srgbClr val="F6F8FF"/>
                </a:solidFill>
                <a:latin typeface="Aptos Display"/>
              </a:rPr>
              <a:t>Thank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5955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600" b="1" i="0">
                <a:solidFill>
                  <a:srgbClr val="3CDCFF"/>
                </a:solidFill>
                <a:latin typeface="Aptos"/>
              </a:rPr>
              <a:t>Questions &amp; Viva Discussion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16752"/>
            <a:ext cx="10698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 i="0">
                <a:solidFill>
                  <a:srgbClr val="A8B5D3"/>
                </a:solidFill>
                <a:latin typeface="Aptos"/>
              </a:rPr>
              <a:t>Assalamu Alaikum Warahmatullahi Wabarakatuh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37960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 i="0">
                <a:solidFill>
                  <a:srgbClr val="A8B5D3"/>
                </a:solidFill>
                <a:latin typeface="Aptos"/>
              </a:rPr>
              <a:t>University of Central Punjab  •  Cybersecurity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6537960"/>
            <a:ext cx="4297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800" b="0" i="0">
                <a:solidFill>
                  <a:srgbClr val="A8B5D3"/>
                </a:solidFill>
                <a:latin typeface="Aptos"/>
              </a:rPr>
              <a:t>FATIMA TARIQ  |  L1F24BSSC0019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